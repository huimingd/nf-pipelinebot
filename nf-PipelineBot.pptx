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89B4FA"/>
                </a:solidFill>
              </a:rPr>
              <a:t>nf-PipelineBot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DD6F4"/>
                </a:solidFill>
              </a:rPr>
              <a:t>A Nextflow Wrapper for PipelineBot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520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6ADC8"/>
                </a:solidFill>
              </a:rPr>
              <a:t>Reproducible bioinformatics pipelines with uv, SLURM, GPU acceleration,
and Nextflow's built-in reporting — no changes to PipelineBot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6ADC8"/>
                </a:solidFill>
              </a:rPr>
              <a:t>github.com/huimingd/nf-PipelineBot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6ADC8"/>
                </a:solidFill>
              </a:rPr>
              <a:t>What is nf-PipelineBot and why use 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338560" cy="1463040"/>
          </a:xfrm>
          <a:prstGeom prst="rect">
            <a:avLst/>
          </a:prstGeom>
          <a:solidFill>
            <a:srgbClr val="28293E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DD6F4"/>
                </a:solidFill>
              </a:rPr>
              <a:t>nf-PipelineBot wraps PipelineBot — a Python task-execution framework with resource monitoring — inside a Nextflow workflow.  It clones PipelineBot at runtime, installs its locked uv environment, and runs it, giving you Nextflow's reproducibility and SLURM integration with zero changes to PipelineBot itself.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11430000" cy="9525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971800"/>
            <a:ext cx="2788920" cy="1737360"/>
          </a:xfrm>
          <a:prstGeom prst="rect">
            <a:avLst/>
          </a:prstGeom>
          <a:solidFill>
            <a:srgbClr val="313244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Auto-clone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204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Clones PipelineBot at any branch, tag, or commit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2971800"/>
            <a:ext cx="2788920" cy="1737360"/>
          </a:xfrm>
          <a:prstGeom prst="rect">
            <a:avLst/>
          </a:prstGeom>
          <a:solidFill>
            <a:srgbClr val="313244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30632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Locked env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5204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uv sync --locked guarantees reproducibility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2971800"/>
            <a:ext cx="2788920" cy="1737360"/>
          </a:xfrm>
          <a:prstGeom prst="rect">
            <a:avLst/>
          </a:prstGeom>
          <a:solidFill>
            <a:srgbClr val="313244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30632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SLURM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35204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Forwards all SLURM flags to PipelineBot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4" y="2971800"/>
            <a:ext cx="2788920" cy="1737360"/>
          </a:xfrm>
          <a:prstGeom prst="rect">
            <a:avLst/>
          </a:prstGeom>
          <a:solidFill>
            <a:srgbClr val="313244"/>
          </a:solidFill>
          <a:ln w="1270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30632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8BA8"/>
                </a:solidFill>
              </a:rPr>
              <a:t>GPU / Parabricks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4" y="35204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pbrun fq2bam in Singularity on GPU nodes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600">
                <a:solidFill>
                  <a:srgbClr val="89B4FA"/>
                </a:solidFill>
              </a:rPr>
              <a:t>▸ Automatic Repository Cloning at runtime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89B4FA"/>
                </a:solidFill>
              </a:rPr>
              <a:t>▸ Reproducible uv --locked environment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89B4FA"/>
                </a:solidFill>
              </a:rPr>
              <a:t>▸ Custom YAML config or built-in default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89B4FA"/>
                </a:solidFill>
              </a:rPr>
              <a:t>▸ SLURM pass-through (all flags forwarded)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600">
                <a:solidFill>
                  <a:srgbClr val="A6E3A1"/>
                </a:solidFill>
              </a:rPr>
              <a:t>▸ GPU acceleration via Parabricks / Singularity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A6E3A1"/>
                </a:solidFill>
              </a:rPr>
              <a:t>▸ Publishes results + pipeline_info/ reports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A6E3A1"/>
                </a:solidFill>
              </a:rPr>
              <a:t>▸ Modular design under modules/ &amp; workflows/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A6E3A1"/>
                </a:solidFill>
              </a:rPr>
              <a:t>▸ Wave + Conda integration in nextflow.config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029200"/>
            <a:ext cx="11430000" cy="9525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1206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6ADC8"/>
                </a:solidFill>
              </a:rPr>
              <a:t>All features are configurable via Nextflow --params without modifying any source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Requirements &amp;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9B4FA"/>
                </a:solidFill>
              </a:rPr>
              <a:t>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>
                <a:solidFill>
                  <a:srgbClr val="CDD6F4"/>
                </a:solidFill>
              </a:rPr>
              <a:t>▸ Nextflow ≥ 23.04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CDD6F4"/>
                </a:solidFill>
              </a:rPr>
              <a:t>▸ uv on $PATH (or via conda)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CDD6F4"/>
                </a:solidFill>
              </a:rPr>
              <a:t>▸ Git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1430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9B4FA"/>
                </a:solidFill>
              </a:rPr>
              <a:t>Common invocations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554480"/>
            <a:ext cx="5943600" cy="3200400"/>
          </a:xfrm>
          <a:prstGeom prst="rect">
            <a:avLst/>
          </a:prstGeom>
          <a:solidFill>
            <a:srgbClr val="11111B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645920"/>
            <a:ext cx="566928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E3A1"/>
                </a:solidFill>
                <a:latin typeface="Courier New"/>
              </a:rPr>
              <a:t># Default config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nextflow run main.nf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# Custom YAML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nextflow run main.nf \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  --config_file /path/config.yaml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# Specific revision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nextflow run main.nf \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  --pipelinebot_revision develop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490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E2AF"/>
                </a:solidFill>
              </a:rPr>
              <a:t>SLURM execution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160520"/>
            <a:ext cx="5303520" cy="2377440"/>
          </a:xfrm>
          <a:prstGeom prst="rect">
            <a:avLst/>
          </a:prstGeom>
          <a:solidFill>
            <a:srgbClr val="11111B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251959"/>
            <a:ext cx="5029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E3A1"/>
                </a:solidFill>
                <a:latin typeface="Courier New"/>
              </a:rPr>
              <a:t>nextflow run main.nf \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  --use_slurm true \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  --slurm_partition compute \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  --slurm_account myproject \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  --slurm_time_limit '08:00:00' \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  --slurm_mem_gb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Parameters — Core &amp;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283464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19786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Parameter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143000"/>
            <a:ext cx="219456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73552" y="11978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Default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40680" y="1143000"/>
            <a:ext cx="594360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13832" y="1197864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81912"/>
            <a:ext cx="283464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6367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pipelinebot_repo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581912"/>
            <a:ext cx="219456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63677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…/PipelineBot.git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80" y="1581912"/>
            <a:ext cx="594360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13832" y="1636776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PipelineBot repository URL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020824"/>
            <a:ext cx="283464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2075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pipelinebot_revision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020824"/>
            <a:ext cx="219456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3552" y="20756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main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2020824"/>
            <a:ext cx="594360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13832" y="207568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Branch, tag, or commit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459736"/>
            <a:ext cx="283464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2514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config_file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459736"/>
            <a:ext cx="219456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73552" y="2514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null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40680" y="2459736"/>
            <a:ext cx="594360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13832" y="251460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Path to YAML config (uses built-in if unset)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898648"/>
            <a:ext cx="283464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29535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output_dir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898648"/>
            <a:ext cx="219456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3552" y="29535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results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40680" y="2898648"/>
            <a:ext cx="594360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13832" y="295351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Directory for published outputs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337560"/>
            <a:ext cx="283464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33924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log_level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3337560"/>
            <a:ext cx="219456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73552" y="339242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INFO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0680" y="3337560"/>
            <a:ext cx="594360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13832" y="3392424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Logging level passed to main.py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776472"/>
            <a:ext cx="283464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383133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reference_genome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3776472"/>
            <a:ext cx="219456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73552" y="3831335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null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0680" y="3776472"/>
            <a:ext cx="594360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13832" y="3831335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Reference genome path (passed to YAML)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215383"/>
            <a:ext cx="283464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3192" y="427024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annotation_file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4215383"/>
            <a:ext cx="219456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73552" y="427024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null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0680" y="4215383"/>
            <a:ext cx="594360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3832" y="4270247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Annotation GTF path (passed to YAML)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654296"/>
            <a:ext cx="283464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3192" y="47091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fastq_files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4654296"/>
            <a:ext cx="219456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73552" y="470915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[]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40680" y="4654296"/>
            <a:ext cx="594360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13832" y="4709159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List of input FASTQ files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5093208"/>
            <a:ext cx="283464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3192" y="51480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bam_files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5093208"/>
            <a:ext cx="219456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73552" y="51480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[]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40680" y="5093208"/>
            <a:ext cx="594360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3832" y="51480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List of input BAM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Parameters — SLURM Pass-through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283464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19786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Parameter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143000"/>
            <a:ext cx="219456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73552" y="11978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Default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40680" y="1143000"/>
            <a:ext cx="594360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13832" y="1197864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81912"/>
            <a:ext cx="283464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6367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use_slurm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581912"/>
            <a:ext cx="219456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63677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false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80" y="1581912"/>
            <a:ext cx="594360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13832" y="1636776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Enable SLURM execution inside PipelineBot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020824"/>
            <a:ext cx="283464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2075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slurm_partition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020824"/>
            <a:ext cx="219456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3552" y="20756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null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2020824"/>
            <a:ext cx="594360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13832" y="207568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SLURM partition / queue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459736"/>
            <a:ext cx="283464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2514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slurm_account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459736"/>
            <a:ext cx="219456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73552" y="2514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null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40680" y="2459736"/>
            <a:ext cx="594360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13832" y="251460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SLURM project account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898648"/>
            <a:ext cx="283464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29535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slurm_time_limit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898648"/>
            <a:ext cx="219456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3552" y="29535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04:00:00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40680" y="2898648"/>
            <a:ext cx="594360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13832" y="295351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Wall-clock limit per job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337560"/>
            <a:ext cx="283464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33924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slurm_mem_gb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3337560"/>
            <a:ext cx="219456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73552" y="339242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null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0680" y="3337560"/>
            <a:ext cx="594360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13832" y="3392424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Memory per job (GB)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776472"/>
            <a:ext cx="283464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383133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slurm_nodes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3776472"/>
            <a:ext cx="219456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73552" y="3831335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null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0680" y="3776472"/>
            <a:ext cx="594360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13832" y="3831335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Nodes per job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215383"/>
            <a:ext cx="283464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3192" y="427024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slurm_ntasks_per_node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4215383"/>
            <a:ext cx="219456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73552" y="427024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null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0680" y="4215383"/>
            <a:ext cx="594360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3832" y="4270247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MPI tasks per node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654296"/>
            <a:ext cx="283464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3192" y="47091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slurm_work_dir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4654296"/>
            <a:ext cx="219456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73552" y="470915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/tmp/pipeline_slurm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40680" y="4654296"/>
            <a:ext cx="594360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13832" y="4709159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Shared dir for job scripts &amp; logs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5093208"/>
            <a:ext cx="283464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3192" y="51480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slurm_python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5093208"/>
            <a:ext cx="219456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73552" y="51480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python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40680" y="5093208"/>
            <a:ext cx="5943600" cy="438912"/>
          </a:xfrm>
          <a:prstGeom prst="rect">
            <a:avLst/>
          </a:prstGeom>
          <a:solidFill>
            <a:srgbClr val="28293E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3832" y="51480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Python binary on compute nodes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5532120"/>
            <a:ext cx="283464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3192" y="558698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slurm_poll_interval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0" y="5532120"/>
            <a:ext cx="219456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73552" y="558698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40680" y="5532120"/>
            <a:ext cx="5943600" cy="438912"/>
          </a:xfrm>
          <a:prstGeom prst="rect">
            <a:avLst/>
          </a:prstGeom>
          <a:solidFill>
            <a:srgbClr val="313244"/>
          </a:solidFill>
          <a:ln w="381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13832" y="5586983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D6F4"/>
                </a:solidFill>
              </a:rPr>
              <a:t>Seconds between squeue polls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6217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6ADC8"/>
                </a:solidFill>
              </a:rPr>
              <a:t>All slurm_* params map directly to PipelineBot's --slurm-* CLI flags.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Pipeline Config 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6ADC8"/>
                </a:solidFill>
              </a:rPr>
              <a:t>Pass --config_file to override the built-in bioinformatics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669280" cy="5303520"/>
          </a:xfrm>
          <a:prstGeom prst="rect">
            <a:avLst/>
          </a:prstGeom>
          <a:solidFill>
            <a:srgbClr val="11111B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394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6E3A1"/>
                </a:solidFill>
                <a:latin typeface="Courier New"/>
              </a:rPr>
              <a:t>tasks: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- alignment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- variant_calling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- rna_seq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executor: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reference_genome: reference_genome.fa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annotation_file:  annotations.gtf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output_dir:       bioinformatics_results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alignment: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resource_config: { cpus: 4, memory_gb: 8.0, max_processes: 2 }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fastq_files: [sample1.fastq, sample2.fastq]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aligner: bwa   # bwa | bowtie2 | star | minimap2 | parabricks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143000"/>
            <a:ext cx="5669280" cy="5303520"/>
          </a:xfrm>
          <a:prstGeom prst="rect">
            <a:avLst/>
          </a:prstGeom>
          <a:solidFill>
            <a:srgbClr val="11111B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34440"/>
            <a:ext cx="5394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6E3A1"/>
                </a:solidFill>
                <a:latin typeface="Courier New"/>
              </a:rPr>
              <a:t>variant_calling: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resource_config: { cpus: 8, memory_gb: 16.0 }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caller: gatk   # gatk | freebayes | samtools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bam_files: []  # auto-populated from alignment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rna_seq: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resource_config: { cpus: 6, memory_gb: 12.0 }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quantification_method: salmon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# options: salmon | kallisto | featurecounts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# Per-task SLURM override (optional)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# alignment: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#   slurm_config: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#     partition: compute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#     mem_gb: 8.0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#     time_limit: '02:00:00'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6ADC8"/>
                </a:solidFill>
              </a:rPr>
              <a:t>Tasks run in the order listed under tasks:. Remove entries to skip steps. BAM files flow automatically from alignment → variant_calling.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GPU-Accelerated Alignment with Parabricks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6ADC8"/>
                </a:solidFill>
              </a:rPr>
              <a:t>Set  aligner: parabricks  to run pbrun fq2bam inside Singularity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>
                <a:solidFill>
                  <a:srgbClr val="CDD6F4"/>
                </a:solidFill>
              </a:rPr>
              <a:t>▸ Container launched with  singularity exec --nv  (GPU pass-through)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CDD6F4"/>
                </a:solidFill>
              </a:rPr>
              <a:t>▸ scratch_dir  on the host is bind-mounted to  /scratch  inside the container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CDD6F4"/>
                </a:solidFill>
              </a:rPr>
              <a:t>▸ All input/output paths should be expressed relative to  /scratch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CDD6F4"/>
                </a:solidFill>
              </a:rPr>
              <a:t>▸ Per-task slurm_config block selects the GPU partition and device 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926080"/>
            <a:ext cx="7772400" cy="3657600"/>
          </a:xfrm>
          <a:prstGeom prst="rect">
            <a:avLst/>
          </a:prstGeom>
          <a:solidFill>
            <a:srgbClr val="11111B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017520"/>
            <a:ext cx="7498079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6E3A1"/>
                </a:solidFill>
                <a:latin typeface="Courier New"/>
              </a:rPr>
              <a:t>executor: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reference_genome: /scratch/Genomes/hg38.fa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output_dir:       /RUN/alignment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alignment: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aligner:        parabricks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fastq_files:    [/scratch/sample_R1.fastq]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fastq_r2_files: [/scratch/sample_R2.fastq]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container_path: /host/path/clara-parabricks.sif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scratch_dir:    /host/path/to/scratch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slurm_config: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partition: gpu_partition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mem_gb:    64.0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time_limit: '06:00:00'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gpu:       h200:1   # or l40s:1, h100:2 …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modules:   ['cuda/13.0.1', 'apptainer/1.1.9']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work_dir:  /host/path/slurm_jobs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926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Run with: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3337560"/>
            <a:ext cx="3337560" cy="1097280"/>
          </a:xfrm>
          <a:prstGeom prst="rect">
            <a:avLst/>
          </a:prstGeom>
          <a:solidFill>
            <a:srgbClr val="11111B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3429000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E3A1"/>
                </a:solidFill>
                <a:latin typeface="Courier New"/>
              </a:rPr>
              <a:t>nextflow run main.nf \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  --config_file \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  /path/alignment_gpu.yaml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617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Supported GPU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983480"/>
            <a:ext cx="3337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A6E3A1"/>
                </a:solidFill>
              </a:rPr>
              <a:t>▸ h200:1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6E3A1"/>
                </a:solidFill>
              </a:rPr>
              <a:t>▸ h100:2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6E3A1"/>
                </a:solidFill>
              </a:rPr>
              <a:t>▸ l40s:1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Workflow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234440"/>
            <a:ext cx="3840480" cy="914400"/>
          </a:xfrm>
          <a:prstGeom prst="rect">
            <a:avLst/>
          </a:prstGeom>
          <a:solidFill>
            <a:srgbClr val="313244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1872" y="130759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9B4FA"/>
                </a:solidFill>
              </a:rPr>
              <a:t>DOWNLOAD_PIPELINEBOT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7099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ADC8"/>
                </a:solidFill>
              </a:rPr>
              <a:t>git clone + checkout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2148840"/>
            <a:ext cx="91440" cy="548640"/>
          </a:xfrm>
          <a:prstGeom prst="rect">
            <a:avLst/>
          </a:prstGeom>
          <a:solidFill>
            <a:srgbClr val="A6A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697480"/>
            <a:ext cx="3840480" cy="914400"/>
          </a:xfrm>
          <a:prstGeom prst="rect">
            <a:avLst/>
          </a:prstGeom>
          <a:solidFill>
            <a:srgbClr val="313244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77063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6E3A1"/>
                </a:solidFill>
              </a:rPr>
              <a:t>SETUP_UV_ENVIRONMENT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17296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ADC8"/>
                </a:solidFill>
              </a:rPr>
              <a:t>uv sync --locked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3611880"/>
            <a:ext cx="91440" cy="548640"/>
          </a:xfrm>
          <a:prstGeom prst="rect">
            <a:avLst/>
          </a:prstGeom>
          <a:solidFill>
            <a:srgbClr val="A6A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4160520"/>
            <a:ext cx="3840480" cy="914400"/>
          </a:xfrm>
          <a:prstGeom prst="rect">
            <a:avLst/>
          </a:prstGeom>
          <a:solidFill>
            <a:srgbClr val="313244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423367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BA6F7"/>
                </a:solidFill>
              </a:rPr>
              <a:t>RUN_PIPELINEBOT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6360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ADC8"/>
                </a:solidFill>
              </a:rPr>
              <a:t>uv run python main.py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2344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E2AF"/>
                </a:solidFill>
              </a:rPr>
              <a:t>results/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7373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6E3A1"/>
                </a:solidFill>
              </a:rPr>
              <a:t>├── pipeline_results.json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7373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6ADC8"/>
                </a:solidFill>
              </a:rPr>
              <a:t>Pipeline task outcomes (JSON)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31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6E3A1"/>
                </a:solidFill>
              </a:rPr>
              <a:t>├── pipeline.log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3317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6ADC8"/>
                </a:solidFill>
              </a:rPr>
              <a:t>Full execution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926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B4FA"/>
                </a:solidFill>
              </a:rPr>
              <a:t>├── pipeline_info/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9260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6ADC8"/>
                </a:solidFill>
              </a:rPr>
              <a:t>Nextflow reporting outputs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520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6ADC8"/>
                </a:solidFill>
              </a:rPr>
              <a:t>│   execution_timeline.html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5204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6ADC8"/>
                </a:solidFill>
              </a:rPr>
              <a:t>Per-process wall-clock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114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6ADC8"/>
                </a:solidFill>
              </a:rPr>
              <a:t>│   execution_report.html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1148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6ADC8"/>
                </a:solidFill>
              </a:rPr>
              <a:t>CPU / memory usage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7091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6ADC8"/>
                </a:solidFill>
              </a:rPr>
              <a:t>│   execution_trace.txt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7091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6ADC8"/>
                </a:solidFill>
              </a:rPr>
              <a:t>Tab-separated task trace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3035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6ADC8"/>
                </a:solidFill>
              </a:rPr>
              <a:t>│   pipeline_dag.svg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3035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6ADC8"/>
                </a:solidFill>
              </a:rPr>
              <a:t>Workflow DAG diagram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Modules &amp; Workflow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88720"/>
            <a:ext cx="11521440" cy="1188720"/>
          </a:xfrm>
          <a:prstGeom prst="rect">
            <a:avLst/>
          </a:prstGeom>
          <a:solidFill>
            <a:srgbClr val="313244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modules/download_pipelinebot.nf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190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Clones the PipelineBot repo at the specified revision (git clone + checkout).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514600"/>
            <a:ext cx="11521440" cy="1188720"/>
          </a:xfrm>
          <a:prstGeom prst="rect">
            <a:avLst/>
          </a:prstGeom>
          <a:solidFill>
            <a:srgbClr val="313244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modules/setup_uv_environment.nf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449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Runs uv sync --locked and verifies psutil/yaml are importable.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840480"/>
            <a:ext cx="11521440" cy="1188720"/>
          </a:xfrm>
          <a:prstGeom prst="rect">
            <a:avLst/>
          </a:prstGeom>
          <a:solidFill>
            <a:srgbClr val="313244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931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BA6F7"/>
                </a:solidFill>
              </a:rPr>
              <a:t>modules/run_pipelinebot.nf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708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Executes uv run python main.py with config, output paths, log level, and all SLURM args.
Writes outputs to Nextflow's WORK_DIR so publishDir can copy them to results/.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166359"/>
            <a:ext cx="11521440" cy="1188720"/>
          </a:xfrm>
          <a:prstGeom prst="rect">
            <a:avLst/>
          </a:prstGeom>
          <a:solidFill>
            <a:srgbClr val="313244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25779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workflows/pipelinebot.nf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6967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Orchestrates the three modules in sequence and emits results + log_file channels.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Reporting &amp; Wave + Conda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9B4FA"/>
                </a:solidFill>
              </a:rPr>
              <a:t>Nextflow Execution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5669280" cy="566928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655064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E3A1"/>
                </a:solidFill>
              </a:rPr>
              <a:t>execution_timeline.html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655064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Per-process wall-clock timeline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40280"/>
            <a:ext cx="5669280" cy="566928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295144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E3A1"/>
                </a:solidFill>
              </a:rPr>
              <a:t>execution_report.html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95144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Resource usage — CPU, memory, I/O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80360"/>
            <a:ext cx="5669280" cy="566928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935224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E3A1"/>
                </a:solidFill>
              </a:rPr>
              <a:t>execution_trace.txt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935224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Tab-separated trace of every task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20439"/>
            <a:ext cx="5669280" cy="566928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575303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E3A1"/>
                </a:solidFill>
              </a:rPr>
              <a:t>pipeline_dag.svg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575303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D6F4"/>
                </a:solidFill>
              </a:rPr>
              <a:t>Directed acyclic graph of the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976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6ADC8"/>
                </a:solidFill>
              </a:rPr>
              <a:t>Written to  results/pipeline_info/  after every run.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BA6F7"/>
                </a:solidFill>
              </a:rPr>
              <a:t>Wave + Conda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600200"/>
            <a:ext cx="5486400" cy="3200400"/>
          </a:xfrm>
          <a:prstGeom prst="rect">
            <a:avLst/>
          </a:prstGeom>
          <a:solidFill>
            <a:srgbClr val="313244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69164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nextflow.config enables Wave with strategy = ['conda'].
When wave.enabled = true, Nextflow can automatically build and cache OCI container images from Conda environment definitions on processes that declare a conda directive.
No manual container management required — Wave handles image building and caching transparently.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846320"/>
            <a:ext cx="5486400" cy="1783080"/>
          </a:xfrm>
          <a:prstGeom prst="rect">
            <a:avLst/>
          </a:prstGeom>
          <a:solidFill>
            <a:srgbClr val="11111B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937759"/>
            <a:ext cx="52120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6E3A1"/>
                </a:solidFill>
                <a:latin typeface="Courier New"/>
              </a:rPr>
              <a:t># nextflow.config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wave {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enabled  = true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strategy = ['conda']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}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conda {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enabled  = true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channels = ['conda-forge',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              'bioconda']</a:t>
            </a:r>
          </a:p>
          <a:p>
            <a:r>
              <a:rPr sz="1100">
                <a:solidFill>
                  <a:srgbClr val="A6E3A1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Entry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94960" cy="2743200"/>
          </a:xfrm>
          <a:prstGeom prst="rect">
            <a:avLst/>
          </a:prstGeom>
          <a:solidFill>
            <a:srgbClr val="313244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9B4FA"/>
                </a:solidFill>
              </a:rPr>
              <a:t>main.nf  (recommended)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Delegates to workflows/pipelinebot.nf which includes all three modules.
Split structure makes individual steps easier to reuse, override, or extend in downstream workflows via  include { … } from './workflows/pipelinebot'.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94960" cy="2743200"/>
          </a:xfrm>
          <a:prstGeom prst="rect">
            <a:avLst/>
          </a:prstGeom>
          <a:solidFill>
            <a:srgbClr val="313244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E3A1"/>
                </a:solidFill>
              </a:rPr>
              <a:t>main_single.nf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8308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DD6F4"/>
                </a:solidFill>
              </a:rPr>
              <a:t>Portable single-file workflow — all three processes and the workflow block live in one file with no external module dependencies.
Useful for sharing a self-contained script or running without the full repository checkout.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160520"/>
            <a:ext cx="11430000" cy="9525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2519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6ADC8"/>
                </a:solidFill>
              </a:rPr>
              <a:t>Both entry points are functionally identical and share the same nextflow.config — choose based on whether you need modularity or portability.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4983480"/>
            <a:ext cx="7589520" cy="1097280"/>
          </a:xfrm>
          <a:prstGeom prst="rect">
            <a:avLst/>
          </a:prstGeom>
          <a:solidFill>
            <a:srgbClr val="11111B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5074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6E3A1"/>
                </a:solidFill>
                <a:latin typeface="Courier New"/>
              </a:rPr>
              <a:t>nextflow run main.nf        # modular (recommended)</a:t>
            </a:r>
          </a:p>
          <a:p>
            <a:r>
              <a:rPr sz="1300">
                <a:solidFill>
                  <a:srgbClr val="A6E3A1"/>
                </a:solidFill>
                <a:latin typeface="Courier New"/>
              </a:rPr>
              <a:t>nextflow run main_single.nf # portable single-file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A6E3A1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DD6F4"/>
                </a:solidFill>
              </a:rPr>
              <a:t>✓  Clone PipelineBot at any revision — fully reproducible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DD6F4"/>
                </a:solidFill>
              </a:rPr>
              <a:t>✓  uv --locked environment ensures dependency consistency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DD6F4"/>
                </a:solidFill>
              </a:rPr>
              <a:t>✓  Custom YAML config drives all pipeline logic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DD6F4"/>
                </a:solidFill>
              </a:rPr>
              <a:t>✓  SLURM params forwarded transparently to PipelineBot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DD6F4"/>
                </a:solidFill>
              </a:rPr>
              <a:t>✓  GPU jobs via Parabricks + Singularity on GPU partitions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DD6F4"/>
                </a:solidFill>
              </a:rPr>
              <a:t>✓  pipeline_info/ reports (timeline, trace, DAG) auto-generated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DD6F4"/>
                </a:solidFill>
              </a:rPr>
              <a:t>✓  Wave + Conda for zero-touch container provisioning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DD6F4"/>
                </a:solidFill>
              </a:rPr>
              <a:t>✓  Two entry points: modular main.nf or portable main_single.nf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6ADC8"/>
                </a:solidFill>
              </a:rPr>
              <a:t>github.com/huimingd/nf-PipelineBot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